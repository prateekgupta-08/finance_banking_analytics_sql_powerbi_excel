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0" autoAdjust="0"/>
    <p:restoredTop sz="90066" autoAdjust="0"/>
  </p:normalViewPr>
  <p:slideViewPr>
    <p:cSldViewPr snapToGrid="0" snapToObjects="1">
      <p:cViewPr>
        <p:scale>
          <a:sx n="104" d="100"/>
          <a:sy n="104" d="100"/>
        </p:scale>
        <p:origin x="72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Monthly Amount (₹ Cr) — 2023 vs 2024 vs 2025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ln w="25400" cap="flat">
              <a:solidFill>
                <a:srgbClr val="1A7A6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6E"/>
              </a:solidFill>
              <a:ln w="9525" cap="flat">
                <a:solidFill>
                  <a:srgbClr val="1A7A6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1.18</c:v>
                </c:pt>
                <c:pt idx="1">
                  <c:v>1.1100000000000001</c:v>
                </c:pt>
                <c:pt idx="2">
                  <c:v>1.18</c:v>
                </c:pt>
                <c:pt idx="3">
                  <c:v>1.1599999999999999</c:v>
                </c:pt>
                <c:pt idx="4">
                  <c:v>1.24</c:v>
                </c:pt>
                <c:pt idx="5">
                  <c:v>1.1000000000000001</c:v>
                </c:pt>
                <c:pt idx="6">
                  <c:v>1.1299999999999999</c:v>
                </c:pt>
                <c:pt idx="7">
                  <c:v>1.1200000000000001</c:v>
                </c:pt>
                <c:pt idx="8">
                  <c:v>1.1599999999999999</c:v>
                </c:pt>
                <c:pt idx="9">
                  <c:v>1.06</c:v>
                </c:pt>
                <c:pt idx="10">
                  <c:v>1.1599999999999999</c:v>
                </c:pt>
                <c:pt idx="11">
                  <c:v>1.1399999999999999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840-4234-95C8-817D3FB2BA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25400" cap="flat">
              <a:solidFill>
                <a:srgbClr val="D4891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891A"/>
              </a:solidFill>
              <a:ln w="9525" cap="flat">
                <a:solidFill>
                  <a:srgbClr val="D4891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1.2</c:v>
                </c:pt>
                <c:pt idx="1">
                  <c:v>1.05</c:v>
                </c:pt>
                <c:pt idx="2">
                  <c:v>1.1100000000000001</c:v>
                </c:pt>
                <c:pt idx="3">
                  <c:v>1.1100000000000001</c:v>
                </c:pt>
                <c:pt idx="4">
                  <c:v>1.22</c:v>
                </c:pt>
                <c:pt idx="5">
                  <c:v>1.07</c:v>
                </c:pt>
                <c:pt idx="6">
                  <c:v>1.1599999999999999</c:v>
                </c:pt>
                <c:pt idx="7">
                  <c:v>1.1000000000000001</c:v>
                </c:pt>
                <c:pt idx="8">
                  <c:v>1.1499999999999999</c:v>
                </c:pt>
                <c:pt idx="9">
                  <c:v>1.1000000000000001</c:v>
                </c:pt>
                <c:pt idx="10">
                  <c:v>1.0900000000000001</c:v>
                </c:pt>
                <c:pt idx="11">
                  <c:v>1.21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840-4234-95C8-817D3FB2BAF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ln w="25400" cap="flat">
              <a:solidFill>
                <a:srgbClr val="9B8F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8FFF"/>
              </a:solidFill>
              <a:ln w="9525" cap="flat">
                <a:solidFill>
                  <a:srgbClr val="9B8FF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1.22</c:v>
                </c:pt>
                <c:pt idx="1">
                  <c:v>1.05</c:v>
                </c:pt>
                <c:pt idx="2">
                  <c:v>1.1599999999999999</c:v>
                </c:pt>
                <c:pt idx="3">
                  <c:v>1.1599999999999999</c:v>
                </c:pt>
                <c:pt idx="4">
                  <c:v>1.1599999999999999</c:v>
                </c:pt>
                <c:pt idx="5">
                  <c:v>1.23</c:v>
                </c:pt>
                <c:pt idx="6">
                  <c:v>1.25</c:v>
                </c:pt>
                <c:pt idx="7">
                  <c:v>1.1599999999999999</c:v>
                </c:pt>
                <c:pt idx="8">
                  <c:v>1</c:v>
                </c:pt>
                <c:pt idx="9">
                  <c:v>1.1100000000000001</c:v>
                </c:pt>
                <c:pt idx="10">
                  <c:v>1.05</c:v>
                </c:pt>
                <c:pt idx="11">
                  <c:v>1.21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840-4234-95C8-817D3FB2BA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Transaction Status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BD5-46CC-B47F-EFBDA435C985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D5-46CC-B47F-EFBDA435C985}"/>
              </c:ext>
            </c:extLst>
          </c:dPt>
          <c:dPt>
            <c:idx val="2"/>
            <c:bubble3D val="0"/>
            <c:spPr>
              <a:solidFill>
                <a:srgbClr val="D489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D5-46CC-B47F-EFBDA435C98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BD5-46CC-B47F-EFBDA435C98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BD5-46CC-B47F-EFBDA435C98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BD5-46CC-B47F-EFBDA435C98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Success (85.7%)</c:v>
                </c:pt>
                <c:pt idx="1">
                  <c:v>Failed (10.2%)</c:v>
                </c:pt>
                <c:pt idx="2">
                  <c:v>Pending (4.1%)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42930</c:v>
                </c:pt>
                <c:pt idx="1">
                  <c:v>5103</c:v>
                </c:pt>
                <c:pt idx="2">
                  <c:v>2036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D5-46CC-B47F-EFBDA435C9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By Customer Segment (₹ Cr)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Amount (₹ Cr)</c:v>
                </c:pt>
              </c:strCache>
            </c:strRef>
          </c:tx>
          <c:spPr>
            <a:solidFill>
              <a:srgbClr val="1C2B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Retail</c:v>
                </c:pt>
                <c:pt idx="1">
                  <c:v>Premium</c:v>
                </c:pt>
                <c:pt idx="2">
                  <c:v>SME</c:v>
                </c:pt>
                <c:pt idx="3">
                  <c:v>Corporate</c:v>
                </c:pt>
                <c:pt idx="4">
                  <c:v>Wealth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24.83</c:v>
                </c:pt>
                <c:pt idx="1">
                  <c:v>8.4499999999999993</c:v>
                </c:pt>
                <c:pt idx="2">
                  <c:v>7.2</c:v>
                </c:pt>
                <c:pt idx="3">
                  <c:v>3.09</c:v>
                </c:pt>
                <c:pt idx="4">
                  <c:v>2.0499999999999998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75-47C4-8429-0AEA41C48F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By State (₹ Cr)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Amount (₹ Cr)</c:v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Maharashtra</c:v>
                </c:pt>
                <c:pt idx="1">
                  <c:v>Karnataka</c:v>
                </c:pt>
                <c:pt idx="2">
                  <c:v>Gujarat</c:v>
                </c:pt>
                <c:pt idx="3">
                  <c:v>Tamil Nadu</c:v>
                </c:pt>
                <c:pt idx="4">
                  <c:v>Uttar Pradesh</c:v>
                </c:pt>
                <c:pt idx="5">
                  <c:v>Madhya Pradesh</c:v>
                </c:pt>
                <c:pt idx="6">
                  <c:v>Haryana</c:v>
                </c:pt>
                <c:pt idx="7">
                  <c:v>Kerala</c:v>
                </c:pt>
                <c:pt idx="8">
                  <c:v>Delhi</c:v>
                </c:pt>
                <c:pt idx="9">
                  <c:v>West Bengal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6.83</c:v>
                </c:pt>
                <c:pt idx="1">
                  <c:v>5.29</c:v>
                </c:pt>
                <c:pt idx="2">
                  <c:v>5.01</c:v>
                </c:pt>
                <c:pt idx="3">
                  <c:v>4.49</c:v>
                </c:pt>
                <c:pt idx="4">
                  <c:v>4.3600000000000003</c:v>
                </c:pt>
                <c:pt idx="5">
                  <c:v>4.0999999999999996</c:v>
                </c:pt>
                <c:pt idx="6">
                  <c:v>2.57</c:v>
                </c:pt>
                <c:pt idx="7">
                  <c:v>2.4300000000000002</c:v>
                </c:pt>
                <c:pt idx="8">
                  <c:v>2.35</c:v>
                </c:pt>
                <c:pt idx="9">
                  <c:v>2.23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C9-4BAA-9FA8-49E1F3546D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Fraud Transactions by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Count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Loan EMI</c:v>
                </c:pt>
                <c:pt idx="1">
                  <c:v>Transfer</c:v>
                </c:pt>
                <c:pt idx="2">
                  <c:v>Deposit</c:v>
                </c:pt>
                <c:pt idx="3">
                  <c:v>Card Payment</c:v>
                </c:pt>
                <c:pt idx="4">
                  <c:v>Bill Payment</c:v>
                </c:pt>
                <c:pt idx="5">
                  <c:v>Withdrawal</c:v>
                </c:pt>
                <c:pt idx="6">
                  <c:v>Interest Credit</c:v>
                </c:pt>
                <c:pt idx="7">
                  <c:v>Fee Charge</c:v>
                </c:pt>
                <c:pt idx="8">
                  <c:v>Investment</c:v>
                </c:pt>
                <c:pt idx="9">
                  <c:v>Refund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109</c:v>
                </c:pt>
                <c:pt idx="1">
                  <c:v>103</c:v>
                </c:pt>
                <c:pt idx="2">
                  <c:v>83</c:v>
                </c:pt>
                <c:pt idx="3">
                  <c:v>74</c:v>
                </c:pt>
                <c:pt idx="4">
                  <c:v>65</c:v>
                </c:pt>
                <c:pt idx="5">
                  <c:v>56</c:v>
                </c:pt>
                <c:pt idx="6">
                  <c:v>42</c:v>
                </c:pt>
                <c:pt idx="7">
                  <c:v>40</c:v>
                </c:pt>
                <c:pt idx="8">
                  <c:v>39</c:v>
                </c:pt>
                <c:pt idx="9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BB-43EB-B6AB-B18C9D87D0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F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3256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Amount by Gender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EE7-4070-B329-34839AA9B457}"/>
              </c:ext>
            </c:extLst>
          </c:dPt>
          <c:dPt>
            <c:idx val="1"/>
            <c:bubble3D val="0"/>
            <c:spPr>
              <a:solidFill>
                <a:srgbClr val="1C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EE7-4070-B329-34839AA9B45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EE7-4070-B329-34839AA9B45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EE7-4070-B329-34839AA9B45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 — ₹23.60 Cr (51.7%)</c:v>
                </c:pt>
                <c:pt idx="1">
                  <c:v>Male — ₹22.02 Cr (48.3%)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23597</c:v>
                </c:pt>
                <c:pt idx="1">
                  <c:v>22017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EE7-4070-B329-34839AA9B4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Amount by Occupation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Amount (₹ Cr)</c:v>
                </c:pt>
              </c:strCache>
            </c:strRef>
          </c:tx>
          <c:spPr>
            <a:solidFill>
              <a:srgbClr val="1C2B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A6-4E4E-9271-008C3582ABC5}"/>
              </c:ext>
            </c:extLst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A6-4E4E-9271-008C3582ABC5}"/>
              </c:ext>
            </c:extLst>
          </c:dPt>
          <c:dPt>
            <c:idx val="2"/>
            <c:invertIfNegative val="0"/>
            <c:bubble3D val="0"/>
            <c:spPr>
              <a:solidFill>
                <a:srgbClr val="D489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7A6-4E4E-9271-008C3582ABC5}"/>
              </c:ext>
            </c:extLst>
          </c:dPt>
          <c:dPt>
            <c:idx val="3"/>
            <c:invertIfNegative val="0"/>
            <c:bubble3D val="0"/>
            <c:spPr>
              <a:solidFill>
                <a:srgbClr val="9B8F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7A6-4E4E-9271-008C3582ABC5}"/>
              </c:ext>
            </c:extLst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7A6-4E4E-9271-008C3582ABC5}"/>
              </c:ext>
            </c:extLst>
          </c:dPt>
          <c:dPt>
            <c:idx val="5"/>
            <c:invertIfNegative val="0"/>
            <c:bubble3D val="0"/>
            <c:spPr>
              <a:solidFill>
                <a:srgbClr val="48CA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7A6-4E4E-9271-008C3582ABC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Retired</c:v>
                </c:pt>
                <c:pt idx="1">
                  <c:v>Salaried</c:v>
                </c:pt>
                <c:pt idx="2">
                  <c:v>Self Employed</c:v>
                </c:pt>
                <c:pt idx="3">
                  <c:v>Student</c:v>
                </c:pt>
                <c:pt idx="4">
                  <c:v>Business Owner</c:v>
                </c:pt>
                <c:pt idx="5">
                  <c:v>Freelancer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7.9</c:v>
                </c:pt>
                <c:pt idx="1">
                  <c:v>7.8</c:v>
                </c:pt>
                <c:pt idx="2">
                  <c:v>7.7</c:v>
                </c:pt>
                <c:pt idx="3">
                  <c:v>7.7</c:v>
                </c:pt>
                <c:pt idx="4">
                  <c:v>7.5</c:v>
                </c:pt>
                <c:pt idx="5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7A6-4E4E-9271-008C3582AB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87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5943600" cy="5943600"/>
          </a:xfrm>
          <a:prstGeom prst="ellipse">
            <a:avLst/>
          </a:prstGeom>
          <a:solidFill>
            <a:srgbClr val="1A7A6E">
              <a:alpha val="14000"/>
            </a:srgbClr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365760"/>
            <a:ext cx="3200400" cy="3200400"/>
          </a:xfrm>
          <a:prstGeom prst="ellipse">
            <a:avLst/>
          </a:prstGeom>
          <a:solidFill>
            <a:srgbClr val="2AADA0">
              <a:alpha val="12000"/>
            </a:srgbClr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A8D8D4">
              <a:alpha val="10000"/>
            </a:srgbClr>
          </a:solidFill>
          <a:ln w="12700">
            <a:solidFill>
              <a:srgbClr val="A8D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68680"/>
            <a:ext cx="2606040" cy="329184"/>
          </a:xfrm>
          <a:prstGeom prst="roundRect">
            <a:avLst>
              <a:gd name="adj" fmla="val 13889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FINANCE ANALYTICS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7132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Transaction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Dashboard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310128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50,069 real transactions into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7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decisions for management &amp; clients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920240" cy="685800"/>
          </a:xfrm>
          <a:prstGeom prst="roundRect">
            <a:avLst>
              <a:gd name="adj" fmla="val 9333"/>
            </a:avLst>
          </a:prstGeom>
          <a:solidFill>
            <a:srgbClr val="2C3E60"/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B942"/>
                </a:solidFill>
              </a:rPr>
              <a:t>50,069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B5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4206240"/>
            <a:ext cx="1920240" cy="685800"/>
          </a:xfrm>
          <a:prstGeom prst="roundRect">
            <a:avLst>
              <a:gd name="adj" fmla="val 9333"/>
            </a:avLst>
          </a:prstGeom>
          <a:solidFill>
            <a:srgbClr val="2C3E60"/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B942"/>
                </a:solidFill>
              </a:rPr>
              <a:t>5,000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69748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B5"/>
                </a:solidFill>
              </a:rPr>
              <a:t>Customers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4206240"/>
            <a:ext cx="1920240" cy="685800"/>
          </a:xfrm>
          <a:prstGeom prst="roundRect">
            <a:avLst>
              <a:gd name="adj" fmla="val 9333"/>
            </a:avLst>
          </a:prstGeom>
          <a:solidFill>
            <a:srgbClr val="2C3E60"/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B942"/>
                </a:solidFill>
              </a:rPr>
              <a:t>13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4632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B5"/>
                </a:solidFill>
              </a:rPr>
              <a:t>States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4206240"/>
            <a:ext cx="1920240" cy="685800"/>
          </a:xfrm>
          <a:prstGeom prst="roundRect">
            <a:avLst>
              <a:gd name="adj" fmla="val 9333"/>
            </a:avLst>
          </a:prstGeom>
          <a:solidFill>
            <a:srgbClr val="2C3E60"/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B942"/>
                </a:solidFill>
              </a:rPr>
              <a:t>3 yrs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99516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3B5"/>
                </a:solidFill>
              </a:rPr>
              <a:t>2023–2025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D8D4"/>
                </a:solidFill>
              </a:rPr>
              <a:t>What management couldn't see before this project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416052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18488"/>
            <a:ext cx="685800" cy="685800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00784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1887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Growth Visibility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53312" y="161848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C7A"/>
                </a:solidFill>
              </a:rPr>
              <a:t>No single view of YoY transaction growth, monthly peaks, or trend direction across 2023–2025.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82312" y="1115568"/>
            <a:ext cx="416052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65192" y="1618488"/>
            <a:ext cx="685800" cy="68580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700784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88152" y="11887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Blindspot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88152" y="161848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C7A"/>
                </a:solidFill>
              </a:rPr>
              <a:t>Teams couldn't tell which of 5 segments (Retail, SME, Corporate, Wealth, Premium) or 13 states drove the most value.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47472" y="3035808"/>
            <a:ext cx="416052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0352" y="3538728"/>
            <a:ext cx="685800" cy="685800"/>
          </a:xfrm>
          <a:prstGeom prst="ellipse">
            <a:avLst/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621024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1089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Leakage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53312" y="353872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C7A"/>
                </a:solidFill>
              </a:rPr>
              <a:t>10.2% of all transactions are Failed or Pending — ₹6.66 Cr stuck. No system to spot this at a glance.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82312" y="3035808"/>
            <a:ext cx="416052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65192" y="3538728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621024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88152" y="31089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Not Surfaced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88152" y="353872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C7A"/>
                </a:solidFill>
              </a:rPr>
              <a:t>632 fraudulent transactions across all types. Loan EMI &amp; Transfer top the list — invisible without a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3B5"/>
                </a:solidFill>
              </a:rPr>
              <a:t>Actual numbers from the dataset — cross-check against your MySQL queries in Section 1 &amp; 13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1572768" cy="3611880"/>
          </a:xfrm>
          <a:prstGeom prst="roundRect">
            <a:avLst>
              <a:gd name="adj" fmla="val 5814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1325880"/>
            <a:ext cx="1298448" cy="54864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50876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B942"/>
                </a:solidFill>
              </a:rPr>
              <a:t>₹45.64 Cr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0624" y="214884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Total Amount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0624" y="283464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3B5"/>
                </a:solidFill>
              </a:rPr>
              <a:t>All transactions 2023–2025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66544" y="1188720"/>
            <a:ext cx="1572768" cy="3611880"/>
          </a:xfrm>
          <a:prstGeom prst="roundRect">
            <a:avLst>
              <a:gd name="adj" fmla="val 5814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03704" y="1325880"/>
            <a:ext cx="1298448" cy="54864"/>
          </a:xfrm>
          <a:prstGeom prst="rect">
            <a:avLst/>
          </a:prstGeom>
          <a:solidFill>
            <a:srgbClr val="2AADA0"/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150876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ADA0"/>
                </a:solidFill>
              </a:rPr>
              <a:t>50,069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39696" y="214884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Total Transactions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39696" y="283464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3B5"/>
                </a:solidFill>
              </a:rPr>
              <a:t>Across 10 types &amp; 8 channels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85616" y="1188720"/>
            <a:ext cx="1572768" cy="3611880"/>
          </a:xfrm>
          <a:prstGeom prst="roundRect">
            <a:avLst>
              <a:gd name="adj" fmla="val 5814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22776" y="1325880"/>
            <a:ext cx="1298448" cy="54864"/>
          </a:xfrm>
          <a:prstGeom prst="rect">
            <a:avLst/>
          </a:prstGeom>
          <a:solidFill>
            <a:srgbClr val="9B8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150876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8FFF"/>
                </a:solidFill>
              </a:rPr>
              <a:t>₹9,110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58768" y="214884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Avg Transaction Value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58768" y="283464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3B5"/>
                </a:solidFill>
              </a:rPr>
              <a:t>Per transaction mean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04688" y="1188720"/>
            <a:ext cx="1572768" cy="3611880"/>
          </a:xfrm>
          <a:prstGeom prst="roundRect">
            <a:avLst>
              <a:gd name="adj" fmla="val 5814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41848" y="1325880"/>
            <a:ext cx="1298448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50876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8CAE4"/>
                </a:solidFill>
              </a:rPr>
              <a:t>₹7.28 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214884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Total Fees Collected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77840" y="283464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3B5"/>
                </a:solidFill>
              </a:rPr>
              <a:t>fee_amount across all types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0" y="1188720"/>
            <a:ext cx="1572768" cy="3611880"/>
          </a:xfrm>
          <a:prstGeom prst="roundRect">
            <a:avLst>
              <a:gd name="adj" fmla="val 5814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1325880"/>
            <a:ext cx="1298448" cy="54864"/>
          </a:xfrm>
          <a:prstGeom prst="rect">
            <a:avLst/>
          </a:prstGeom>
          <a:solidFill>
            <a:srgbClr val="78E08F"/>
          </a:solidFill>
          <a:ln w="12700">
            <a:solidFill>
              <a:srgbClr val="78E0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150876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8E08F"/>
                </a:solidFill>
              </a:rPr>
              <a:t>₹1.31 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96912" y="214884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Total Tax Generated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96912" y="2834640"/>
            <a:ext cx="1426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3B5"/>
                </a:solidFill>
              </a:rPr>
              <a:t>tax_amount across all types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4773168"/>
            <a:ext cx="8449056" cy="256032"/>
          </a:xfrm>
          <a:prstGeom prst="roundRect">
            <a:avLst>
              <a:gd name="adj" fmla="val 17857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773168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YoY: 2023 → ₹13.73 Cr  |  2024 → ₹13.58 Cr (−1.1%)  |  2025 → ₹13.77 Cr (+1.4%)  — flat growth signals need for segment-level strategy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Trend &amp; Transaction Status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D8D4"/>
                </a:solidFill>
              </a:rPr>
              <a:t>Jan dip in Apr–Oct pattern | 85.7% success rate overall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84048" y="1078992"/>
          <a:ext cx="56692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217920" y="1078992"/>
          <a:ext cx="2724912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217920" y="3767328"/>
            <a:ext cx="2724912" cy="91440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9050">
            <a:solidFill>
              <a:srgbClr val="D4891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309360" y="381304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3F00"/>
                </a:solidFill>
              </a:rPr>
              <a:t>⚠  5,103 failed transactions = ₹4.75 Cr unprocessed revenue. Top fix: reduce ATM &amp; Auto Debit failures.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&amp; State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D8D4"/>
                </a:solidFill>
              </a:rPr>
              <a:t>Retail dominates volume; Maharashtra leads all states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84048" y="1078992"/>
          <a:ext cx="42062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1078992"/>
          <a:ext cx="4187952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0" y="4809744"/>
            <a:ext cx="9144000" cy="3200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4809744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Retail = 54% of total amount but lowest avg ticket. Corporate &amp; Wealth = small count, high avg — prioritise for upsell. Maharashtra alone = 15% of all volume.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Type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D8D4"/>
                </a:solidFill>
              </a:rPr>
              <a:t>Loan EMI &amp; Transfer contribute 55% of total volume — highest fee generators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82880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Transaction Type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03120" y="1024128"/>
            <a:ext cx="68580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02412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Count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024128"/>
            <a:ext cx="141732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0241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Amount (₹ Cr)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024128"/>
            <a:ext cx="77724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0241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Fees (₹ 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83480" y="1024128"/>
            <a:ext cx="73152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024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Tax (₹ L)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1024128"/>
            <a:ext cx="109728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0241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Avg Amount (₹)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1024128"/>
            <a:ext cx="822960" cy="3657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0241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Success 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389888"/>
            <a:ext cx="1828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389888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B4A"/>
                </a:solidFill>
              </a:rPr>
              <a:t>Loan EMI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03120" y="1389888"/>
            <a:ext cx="685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1389888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9,140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88920" y="1389888"/>
            <a:ext cx="14173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138988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13.11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06240" y="1389888"/>
            <a:ext cx="777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1389888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2.05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1389888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389888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0.37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15000" y="1389888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1389888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14,349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12280" y="1389888"/>
            <a:ext cx="822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1389888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85.5%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1764792"/>
            <a:ext cx="1828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1764792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B4A"/>
                </a:solidFill>
              </a:rPr>
              <a:t>Transfer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103120" y="1764792"/>
            <a:ext cx="685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1764792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8,479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88920" y="1764792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1764792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12.09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06240" y="1764792"/>
            <a:ext cx="7772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1764792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1.93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83480" y="1764792"/>
            <a:ext cx="7315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1764792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0.35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15000" y="1764792"/>
            <a:ext cx="10972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1764792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14,253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812280" y="1764792"/>
            <a:ext cx="82296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1764792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85.7%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2139696"/>
            <a:ext cx="1828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2139696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B4A"/>
                </a:solidFill>
              </a:rPr>
              <a:t>Deposit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103120" y="2139696"/>
            <a:ext cx="685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2139696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4,970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88920" y="2139696"/>
            <a:ext cx="14173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88920" y="2139696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6.88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06240" y="2139696"/>
            <a:ext cx="777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0" y="2139696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1.13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983480" y="2139696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83480" y="2139696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0.20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715000" y="2139696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15000" y="2139696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13,848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812280" y="2139696"/>
            <a:ext cx="822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12280" y="2139696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85.8%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2514600"/>
            <a:ext cx="1828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2514600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B4A"/>
                </a:solidFill>
              </a:rPr>
              <a:t>Investment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103120" y="2514600"/>
            <a:ext cx="685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03120" y="2514600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3,568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88920" y="2514600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88920" y="2514600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4.92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206240" y="2514600"/>
            <a:ext cx="7772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06240" y="2514600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0.80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983480" y="2514600"/>
            <a:ext cx="7315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83480" y="2514600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0.14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715000" y="2514600"/>
            <a:ext cx="10972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15000" y="251460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13,788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812280" y="2514600"/>
            <a:ext cx="82296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12280" y="2514600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85.9%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74320" y="2889504"/>
            <a:ext cx="1828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2889504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B4A"/>
                </a:solidFill>
              </a:rPr>
              <a:t>Card Payment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103120" y="2889504"/>
            <a:ext cx="685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103120" y="2889504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5,329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788920" y="2889504"/>
            <a:ext cx="14173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88920" y="2889504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2.69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206240" y="2889504"/>
            <a:ext cx="777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06240" y="2889504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0.43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4983480" y="2889504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83480" y="2889504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0.08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5715000" y="2889504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15000" y="2889504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5,043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812280" y="2889504"/>
            <a:ext cx="822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12280" y="2889504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85.7%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74320" y="3264408"/>
            <a:ext cx="1828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3264408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B4A"/>
                </a:solidFill>
              </a:rPr>
              <a:t>Bill Payment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103120" y="3264408"/>
            <a:ext cx="685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103120" y="3264408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4,310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2788920" y="3264408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88920" y="326440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2.18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206240" y="3264408"/>
            <a:ext cx="7772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06240" y="3264408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0.33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983480" y="3264408"/>
            <a:ext cx="7315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83480" y="3264408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0.06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5715000" y="3264408"/>
            <a:ext cx="10972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715000" y="3264408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5,051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6812280" y="3264408"/>
            <a:ext cx="82296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812280" y="3264408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85.3%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274320" y="3639312"/>
            <a:ext cx="1828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4320" y="3639312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B4A"/>
                </a:solidFill>
              </a:rPr>
              <a:t>Withdrawal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2103120" y="3639312"/>
            <a:ext cx="685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103120" y="3639312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4,279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2788920" y="3639312"/>
            <a:ext cx="14173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788920" y="3639312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2.14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4206240" y="3639312"/>
            <a:ext cx="777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206240" y="3639312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0.33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4983480" y="3639312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983480" y="3639312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0.06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5715000" y="3639312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715000" y="3639312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4,999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6812280" y="3639312"/>
            <a:ext cx="822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812280" y="3639312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85.5%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274320" y="4014216"/>
            <a:ext cx="1828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4320" y="4014216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B4A"/>
                </a:solidFill>
              </a:rPr>
              <a:t>Interest Credit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2103120" y="4014216"/>
            <a:ext cx="685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103120" y="4014216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4,017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2788920" y="4014216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788920" y="4014216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0.92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4206240" y="4014216"/>
            <a:ext cx="7772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206240" y="4014216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0.15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4983480" y="4014216"/>
            <a:ext cx="7315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983480" y="4014216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0.03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5715000" y="4014216"/>
            <a:ext cx="10972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715000" y="4014216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2,279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6812280" y="4014216"/>
            <a:ext cx="82296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812280" y="4014216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85.4%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274320" y="4389120"/>
            <a:ext cx="1828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74320" y="4389120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B4A"/>
                </a:solidFill>
              </a:rPr>
              <a:t>Refund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2103120" y="4389120"/>
            <a:ext cx="6858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103120" y="4389120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2,337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2788920" y="4389120"/>
            <a:ext cx="14173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788920" y="4389120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0.52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4206240" y="4389120"/>
            <a:ext cx="77724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206240" y="4389120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0.08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4983480" y="4389120"/>
            <a:ext cx="7315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983480" y="4389120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0.01</a:t>
            </a: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5715000" y="4389120"/>
            <a:ext cx="109728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715000" y="4389120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2,218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6812280" y="4389120"/>
            <a:ext cx="822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812280" y="4389120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85.7%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274320" y="4764024"/>
            <a:ext cx="1828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74320" y="4764024"/>
            <a:ext cx="1828800" cy="37490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B4A"/>
                </a:solidFill>
              </a:rPr>
              <a:t>Fee Charge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2103120" y="4764024"/>
            <a:ext cx="68580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103120" y="4764024"/>
            <a:ext cx="685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3,640</a:t>
            </a:r>
            <a:endParaRPr lang="en-US" sz="950" dirty="0"/>
          </a:p>
        </p:txBody>
      </p:sp>
      <p:sp>
        <p:nvSpPr>
          <p:cNvPr id="149" name="Shape 147"/>
          <p:cNvSpPr/>
          <p:nvPr/>
        </p:nvSpPr>
        <p:spPr>
          <a:xfrm>
            <a:off x="2788920" y="4764024"/>
            <a:ext cx="14173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788920" y="4764024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0.17</a:t>
            </a:r>
            <a:endParaRPr lang="en-US" sz="950" dirty="0"/>
          </a:p>
        </p:txBody>
      </p:sp>
      <p:sp>
        <p:nvSpPr>
          <p:cNvPr id="151" name="Shape 149"/>
          <p:cNvSpPr/>
          <p:nvPr/>
        </p:nvSpPr>
        <p:spPr>
          <a:xfrm>
            <a:off x="4206240" y="4764024"/>
            <a:ext cx="77724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206240" y="4764024"/>
            <a:ext cx="777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0.03</a:t>
            </a:r>
            <a:endParaRPr lang="en-US" sz="950" dirty="0"/>
          </a:p>
        </p:txBody>
      </p:sp>
      <p:sp>
        <p:nvSpPr>
          <p:cNvPr id="153" name="Shape 151"/>
          <p:cNvSpPr/>
          <p:nvPr/>
        </p:nvSpPr>
        <p:spPr>
          <a:xfrm>
            <a:off x="4983480" y="4764024"/>
            <a:ext cx="73152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983480" y="4764024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0.01</a:t>
            </a:r>
            <a:endParaRPr lang="en-US" sz="950" dirty="0"/>
          </a:p>
        </p:txBody>
      </p:sp>
      <p:sp>
        <p:nvSpPr>
          <p:cNvPr id="155" name="Shape 153"/>
          <p:cNvSpPr/>
          <p:nvPr/>
        </p:nvSpPr>
        <p:spPr>
          <a:xfrm>
            <a:off x="5715000" y="4764024"/>
            <a:ext cx="109728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715000" y="4764024"/>
            <a:ext cx="1097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481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6812280" y="4764024"/>
            <a:ext cx="822960" cy="374904"/>
          </a:xfrm>
          <a:prstGeom prst="rect">
            <a:avLst/>
          </a:prstGeom>
          <a:solidFill>
            <a:srgbClr val="F0F4F8"/>
          </a:solidFill>
          <a:ln w="6350">
            <a:solidFill>
              <a:srgbClr val="CDD8E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812280" y="4764024"/>
            <a:ext cx="822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C7A"/>
                </a:solidFill>
              </a:rPr>
              <a:t>86.0%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&amp; Risk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</a:rPr>
              <a:t>444 transactions with risk_score &gt; 75 are 100% confirmed fraud — immediate action required</a:t>
            </a:r>
            <a:endParaRPr lang="en-US" sz="10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84048" y="1115568"/>
          <a:ext cx="51206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15568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2C3E6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113385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</a:rPr>
              <a:t>632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760720" y="1572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3B5"/>
                </a:solidFill>
              </a:rPr>
              <a:t>Total Fraud Txns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2075688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2C3E60"/>
          </a:solidFill>
          <a:ln w="19050">
            <a:solidFill>
              <a:srgbClr val="D489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09397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891A"/>
                </a:solidFill>
              </a:rPr>
              <a:t>1.26%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760720" y="25328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3B5"/>
                </a:solidFill>
              </a:rPr>
              <a:t>Fraud Rate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3035808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2C3E6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30540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</a:rPr>
              <a:t>444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760720" y="3493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3B5"/>
                </a:solidFill>
              </a:rPr>
              <a:t>Risk Score &gt; 75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995928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2C3E60"/>
          </a:solidFill>
          <a:ln w="19050">
            <a:solidFill>
              <a:srgbClr val="F4B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401421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942"/>
                </a:solidFill>
              </a:rPr>
              <a:t>100%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760720" y="44531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3B5"/>
                </a:solidFill>
              </a:rPr>
              <a:t>Risk&gt;75 = Fraud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4846320"/>
            <a:ext cx="3108960" cy="0"/>
          </a:xfrm>
          <a:prstGeom prst="roundRect">
            <a:avLst>
              <a:gd name="adj" fmla="val Infinity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&amp; Occupation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D8D4"/>
                </a:solidFill>
              </a:rPr>
              <a:t>Female customers transact slightly more — Salaried &amp; Business Owners top spenders</a:t>
            </a:r>
            <a:endParaRPr lang="en-US" sz="10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84048" y="1078992"/>
          <a:ext cx="3200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749040" y="1078992"/>
          <a:ext cx="52120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84048" y="4187952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30352" y="42336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C7A"/>
                </a:solidFill>
              </a:rPr>
              <a:t>Insight: Gender split is near-equal (51.7% F vs 48.3% M) — no gender-specific targeting needed. Occupation gap is negligible across all 6 groups (~₹7.4–7.9 Cr each), suggesting uniform product adoption. Opportunity: Retired &amp; Students are high-count segments — tailor low-fee products to retain them.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3B5"/>
                </a:solidFill>
              </a:rPr>
              <a:t>What the data is actually telling us — numbered for stakeholder discussion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115568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115568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2AADA0"/>
          </a:solidFill>
          <a:ln w="12700">
            <a:solidFill>
              <a:srgbClr val="2AAD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15568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4A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15214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Growth is flat — not bad, but not scaling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46304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3B5"/>
                </a:solidFill>
              </a:rPr>
              <a:t>2023: ₹13.73 Cr → 2024: ₹13.58 Cr (−1.1%) → 2025: ₹13.77 Cr (+1.4%). Three years of near-zero growth means volume alone won't drive revenue.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901952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901952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01952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4A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93852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₹6.66 Cr is blocked in Failed &amp; Pending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24942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3B5"/>
                </a:solidFill>
              </a:rPr>
              <a:t>10.2% of all transactions (7,139 rows) never completed. At avg ₹9,110 per txn, this is recoverable revenue sitting on the table.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688336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688336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88336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4A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72491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Retail is big but Corporate/Wealth are more efficient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303580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3B5"/>
                </a:solidFill>
              </a:rPr>
              <a:t>Retail drives 54% of volume but lowest avg ticket (₹9K). Corporate &amp; Wealth average ₹12–14K — smaller count, disproportionate value.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3474720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474720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474720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4A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5112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Loan EMI &amp; Transfer concentrate fraud risk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82219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3B5"/>
                </a:solidFill>
              </a:rPr>
              <a:t>109 + 103 = 212 fraud cases in just 2 types. Combined with risk_score &gt; 75 rule, these two types should trigger automatic holds.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4261104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2C3E60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4261104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9B8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261104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4A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42976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May–October dip is consistent across all 3 years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60857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3B5"/>
                </a:solidFill>
              </a:rPr>
              <a:t>Monthly amounts fall from ₹1.24 Cr (May peak) to ₹1.00 Cr (Sep low) every year — predictable seasonality not yet exploited.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Actions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D8D4"/>
                </a:solidFill>
              </a:rPr>
              <a:t>Prioritised by impact — data-backed, not opinions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42245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20700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070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216152" y="115214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real-time fraud block on risk_score &gt; 75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16276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7A"/>
                </a:solidFill>
              </a:rPr>
              <a:t>100% of the 444 high-risk transactions are confirmed fraud. Add an automatic hold + SMS alert for any Loan EMI or Transfer with risk &gt; 75 before processing.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423160"/>
            <a:ext cx="42245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5146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146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16152" y="2459736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failed transaction pipeline — recover ₹4.75 Cr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" y="293522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7A"/>
                </a:solidFill>
              </a:rPr>
              <a:t>10.2% failure rate is uniformly spread across all channels (~10–11%). Run a retry workflow for Failed txns within 24 hrs; target reducing failure rate below 5%.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730752"/>
            <a:ext cx="42245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3822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822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16152" y="3767328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premium upsell campaign for Corporate &amp; Wealth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" y="424281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7A"/>
                </a:solidFill>
              </a:rPr>
              <a:t>Only 622 customers in Corporate+Wealth but they drive ₹5.1 Cr (11% of total). Design high-ticket products (₹50K+ investment, loan) for this segment first.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9744" y="1115568"/>
            <a:ext cx="42245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20700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D4891A"/>
          </a:solidFill>
          <a:ln w="12700">
            <a:solidFill>
              <a:srgbClr val="D489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2070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78424" y="115214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down on Maharashtra &amp; Karnataka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0" y="16276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7A"/>
                </a:solidFill>
              </a:rPr>
              <a:t>MH (₹6.83 Cr) + KA (₹5.29 Cr) = 26.5% of all revenue from only 2 states. Localise offers, vernacular UPI prompts, and branch campaigns here before expanding.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9744" y="2423160"/>
            <a:ext cx="42245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25146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5146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78424" y="2459736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offer: pre-load transactions for May–Oct dip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0" y="293522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7A"/>
                </a:solidFill>
              </a:rPr>
              <a:t>Sep is the weakest month (₹1.00 Cr) every year. Run cashback or zero-fee promotions Jun–Sep to smooth the seasonal dip and stabilise monthly revenue.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9744" y="3730752"/>
            <a:ext cx="422452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CDD8E8"/>
            </a:solidFill>
            <a:prstDash val="solid"/>
          </a:ln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822192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82219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78424" y="3767328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 channel data before next reporting cycle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37760" y="424281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C7A"/>
                </a:solidFill>
              </a:rPr>
              <a:t>'M@bile App', extra-space variants in 'Net Banking' &amp; 'POS' are dirty. Fix in ETL. Use TRIM(REPLACE()) workaround in SQL (Section 10) until source is cleaned.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 — SQL &amp; Power BI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3B5"/>
                </a:solidFill>
              </a:rPr>
              <a:t>13 query sections in MySQL — every chart in the dashboard has a matching SQL query we can run in Workbench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84048" y="1115568"/>
            <a:ext cx="5303520" cy="3749040"/>
          </a:xfrm>
          <a:prstGeom prst="roundRect">
            <a:avLst>
              <a:gd name="adj" fmla="val 2439"/>
            </a:avLst>
          </a:prstGeom>
          <a:solidFill>
            <a:srgbClr val="0B1623"/>
          </a:solidFill>
          <a:ln w="19050">
            <a:solidFill>
              <a:srgbClr val="1A7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61872"/>
            <a:ext cx="146304" cy="146304"/>
          </a:xfrm>
          <a:prstGeom prst="ellipse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261872"/>
            <a:ext cx="146304" cy="146304"/>
          </a:xfrm>
          <a:prstGeom prst="ellipse">
            <a:avLst/>
          </a:prstGeom>
          <a:solidFill>
            <a:srgbClr val="E5A733"/>
          </a:solidFill>
          <a:ln w="12700">
            <a:solidFill>
              <a:srgbClr val="E5A7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261872"/>
            <a:ext cx="146304" cy="146304"/>
          </a:xfrm>
          <a:prstGeom prst="ellipse">
            <a:avLst/>
          </a:prstGeom>
          <a:solidFill>
            <a:srgbClr val="55C57A"/>
          </a:solidFill>
          <a:ln w="12700">
            <a:solidFill>
              <a:srgbClr val="55C5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234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</a:rPr>
              <a:t>finance_analytics.sql  — Section 2b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572768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8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YoY Growth % (self-join, no window fn)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curr.txn_year,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curr.total_amount  current_yr,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prev.total_amount  previous_yr,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(curr.total_amount - prev.total_amount)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prev.total_amount * 100, 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 yoy_growth_pct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YEAR(transaction_date) txn_year,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SUM(amount) total_amount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transactions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YEAR(transaction_date)) curr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(...same...) prev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D2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curr.txn_year = prev.txn_year + 1;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97880" y="111556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DA0"/>
                </a:solidFill>
              </a:rPr>
              <a:t>Sections in the SQL file: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1508760"/>
            <a:ext cx="30632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S1  —  5 KPIs + single summary row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S2  —  YoY Growth % (Amount &amp; Count)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S3  —  Monthly trend (combined + by year)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S4  —  Status split with % of total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S5  —  Segment: amount, fees, tax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S6  —  State-wise performance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S7  —  Transaction type matrix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S8  —  Gender donut with % share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S9  —  Occupation filter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S10 —  Channel + dirty data fix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S11 —  Fraud &amp; high-risk drill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S12 —  Full drill-down grid (Pg 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7A93B5"/>
                </a:solidFill>
              </a:rPr>
              <a:t>S13 —  1-row executive summary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1A7A6E">
              <a:alpha val="12000"/>
            </a:srgbClr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A8D8D4">
              <a:alpha val="10000"/>
            </a:srgbClr>
          </a:solidFill>
          <a:ln w="12700">
            <a:solidFill>
              <a:srgbClr val="A8D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686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D8D4"/>
                </a:solidFill>
              </a:rPr>
              <a:t>Finance Analytics  ·  MySQL + Power BI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432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50,069 Txns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27432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7432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5,000 Customers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86200" y="27432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7432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13 SQL Sections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77840" y="27432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7432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6 Chart Types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69480" y="27432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27432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Real Insights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340156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3B5"/>
                </a:solidFill>
              </a:rPr>
              <a:t>Built to showcase: MySQL · DAX · Power BI · Data Storytelling · Business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8587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i="1" dirty="0">
                <a:solidFill>
                  <a:srgbClr val="F4B942"/>
                </a:solidFill>
              </a:rPr>
              <a:t>github.com/Prateekgupta-08/</a:t>
            </a:r>
            <a:r>
              <a:rPr lang="en-US" sz="1300" i="1" dirty="0" err="1">
                <a:solidFill>
                  <a:srgbClr val="F4B942"/>
                </a:solidFill>
              </a:rPr>
              <a:t>finance_banking_analytics_sql_powerbi_excel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1422</Words>
  <Application>Microsoft Office PowerPoint</Application>
  <PresentationFormat>On-screen Show (16:9)</PresentationFormat>
  <Paragraphs>241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Prateek Gupta</cp:lastModifiedBy>
  <cp:revision>2</cp:revision>
  <dcterms:created xsi:type="dcterms:W3CDTF">2026-06-09T18:38:46Z</dcterms:created>
  <dcterms:modified xsi:type="dcterms:W3CDTF">2026-06-09T19:17:37Z</dcterms:modified>
</cp:coreProperties>
</file>